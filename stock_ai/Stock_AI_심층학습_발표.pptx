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200" b="1">
                <a:solidFill>
                  <a:srgbClr val="55B8FF"/>
                </a:solidFill>
                <a:latin typeface="Pretendard"/>
              </a:rPr>
              <a:t>Stock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0">
                <a:solidFill>
                  <a:srgbClr val="EAECEF"/>
                </a:solidFill>
                <a:latin typeface="Pretendard"/>
              </a:rPr>
              <a:t>심층학습 기반 한국 주식 추천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9AA3B2"/>
                </a:solidFill>
                <a:latin typeface="Pretendard"/>
              </a:rPr>
              <a:t>Bidirectional LSTM + Temporal Attention + Rule-based Ensemble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2697480" cy="13716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CAGR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C471"/>
                </a:solidFill>
                <a:latin typeface="Pretendard"/>
              </a:rPr>
              <a:t>27.2%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79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2015 – 2026.05 (라이브)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11880" y="4663440"/>
            <a:ext cx="2697480" cy="13716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48006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Sharpe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512064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C471"/>
                </a:solidFill>
                <a:latin typeface="Pretendard"/>
              </a:rPr>
              <a:t>1.41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5669279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역대 최고치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663440"/>
            <a:ext cx="2697480" cy="13716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8006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Daily MDD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12064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1C40F"/>
                </a:solidFill>
                <a:latin typeface="Pretendard"/>
              </a:rPr>
              <a:t>-20.1%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669279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블랙스완 3건 방어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4663440"/>
            <a:ext cx="2075688" cy="13716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4800600"/>
            <a:ext cx="1709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5120640"/>
            <a:ext cx="1709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C471"/>
                </a:solidFill>
                <a:latin typeface="Pretendard"/>
              </a:rPr>
              <a:t>+10.3%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55480" y="5669279"/>
            <a:ext cx="170992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vs KOSPI200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5508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심층학습 (Deep Learning) · 2026-05-17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55B8FF"/>
                </a:solidFill>
                <a:latin typeface="Pretendard"/>
              </a:rP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Pretendard"/>
              </a:rPr>
              <a:t>Problem · Goal ·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" cy="36576"/>
          </a:xfrm>
          <a:prstGeom prst="rect">
            <a:avLst/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Pretendard"/>
              </a:rPr>
              <a:t>2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749039" cy="45720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3200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74C3C"/>
                </a:solidFill>
                <a:latin typeface="Pretendard"/>
              </a:rPr>
              <a:t>❓ 문제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560320"/>
            <a:ext cx="3200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• 한국 주식 종목 2,600+ 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063239"/>
            <a:ext cx="3200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• 공시 데이터 노이즈 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566160"/>
            <a:ext cx="3200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• 단순 PER/ROE 필터는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069080"/>
            <a:ext cx="3200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• AI 단독 또한 unstable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572000"/>
            <a:ext cx="3200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• 리스크 관리 필수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737360"/>
            <a:ext cx="3749039" cy="45720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1920240"/>
            <a:ext cx="3200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  <a:latin typeface="Pretendard"/>
              </a:rPr>
              <a:t>🎯 목표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2560320"/>
            <a:ext cx="3200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• CAGR 20% 이상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3063239"/>
            <a:ext cx="3200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• Sharpe &gt; 1.0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3566160"/>
            <a:ext cx="3200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• MDD &lt; -30%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4069080"/>
            <a:ext cx="3200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• 블랙스완 방어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59" y="4572000"/>
            <a:ext cx="3200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• 실시간 운용 가능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737360"/>
            <a:ext cx="3383280" cy="45720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192024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C471"/>
                </a:solidFill>
                <a:latin typeface="Pretendard"/>
              </a:rPr>
              <a:t>🛠️ 접근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256032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• 심층학습 (ChartLSTM)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063239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• 규칙 기반 (4-factor)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56616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• 앙상블 결합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06908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• Walk-forward 검증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5720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• Monte Carlo 스트레스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55B8FF"/>
                </a:solidFill>
                <a:latin typeface="Pretendard"/>
              </a:rPr>
              <a:t>시스템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Pretendard"/>
              </a:rPr>
              <a:t>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" cy="36576"/>
          </a:xfrm>
          <a:prstGeom prst="rect">
            <a:avLst/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Pretendard"/>
              </a:rPr>
              <a:t>3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 w="12700">
            <a:solidFill>
              <a:srgbClr val="55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5B8FF"/>
                </a:solidFill>
                <a:latin typeface="Pretendard"/>
              </a:rPr>
              <a:t>STAGE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AECEF"/>
                </a:solidFill>
                <a:latin typeface="Pretendard"/>
              </a:rPr>
              <a:t>데이터 수집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KRX 일별 OHLCV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DART 분기 재무제표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11.4년 / 2,939 거래일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628 종목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ACCOUNT_MAP 보강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920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(영업수익 +)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182880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 w="12700">
            <a:solidFill>
              <a:srgbClr val="55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1965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55B8FF"/>
                </a:solidFill>
                <a:latin typeface="Pretendard"/>
              </a:rPr>
              <a:t>STAGE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AECEF"/>
                </a:solidFill>
                <a:latin typeface="Pretendard"/>
              </a:rPr>
              <a:t>전처리 · 특성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8346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TTM PER 자체 계산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2461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YoY abs 분모 처리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6576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8개 차트 특성: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0690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RSI/BB/MA/Vol/MACD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4805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/Volume/Mom 5,20d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8920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60일 시퀀스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828800"/>
            <a:ext cx="2743200" cy="45720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 w="12700">
            <a:solidFill>
              <a:srgbClr val="2EC4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19659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EC471"/>
                </a:solidFill>
                <a:latin typeface="Pretendard"/>
              </a:rPr>
              <a:t>STAGE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28600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AECEF"/>
                </a:solidFill>
                <a:latin typeface="Pretendard"/>
              </a:rPr>
              <a:t>모델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8346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[A] ChartLSTM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24612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(딥러닝, 162K params)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65760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[B] Rule Screener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06908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(4팩터 + 추세)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48056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[C] Ensemble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8920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(가중 평균)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1828800"/>
            <a:ext cx="2377440" cy="45720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 w="12700">
            <a:solidFill>
              <a:srgbClr val="F1C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59" y="196596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1C40F"/>
                </a:solidFill>
                <a:latin typeface="Pretendard"/>
              </a:rPr>
              <a:t>STAGE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59" y="228600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AECEF"/>
                </a:solidFill>
                <a:latin typeface="Pretendard"/>
              </a:rPr>
              <a:t>포트폴리오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59" y="28346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Top10 (KOSPI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59" y="324612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+ KOSDAQ 5)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59" y="365760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비중 캡 25%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59" y="40690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채권 3% 폴백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59" y="44805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골드 헤지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59" y="489204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2m × day=9 리밸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3291840" y="3931920"/>
            <a:ext cx="182880" cy="365760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ight Arrow 43"/>
          <p:cNvSpPr/>
          <p:nvPr/>
        </p:nvSpPr>
        <p:spPr>
          <a:xfrm>
            <a:off x="6217920" y="3931920"/>
            <a:ext cx="182880" cy="365760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9144000" y="3931920"/>
            <a:ext cx="182880" cy="365760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55B8FF"/>
                </a:solidFill>
                <a:latin typeface="Pretendard"/>
              </a:rPr>
              <a:t>데이터셋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Pretendard"/>
              </a:rPr>
              <a:t>Korea Exchange + DART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" cy="36576"/>
          </a:xfrm>
          <a:prstGeom prst="rect">
            <a:avLst/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Pretendard"/>
              </a:rPr>
              <a:t>4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수집 기간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55B8FF"/>
                </a:solidFill>
                <a:latin typeface="Pretendard"/>
              </a:rPr>
              <a:t>11.4년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2015-01 ~ 2026-05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828800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19659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거래일 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2860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55B8FF"/>
                </a:solidFill>
                <a:latin typeface="Pretendard"/>
              </a:rPr>
              <a:t>2,939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346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일별 OHLCV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1828800"/>
            <a:ext cx="2651760" cy="13716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96596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종목 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8600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55B8FF"/>
                </a:solidFill>
                <a:latin typeface="Pretendard"/>
              </a:rPr>
              <a:t>628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83464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KOSPI + KOSDAQ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78240" y="1828800"/>
            <a:ext cx="2926080" cy="13716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19" y="196596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재무 결손 회수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28600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C471"/>
                </a:solidFill>
                <a:latin typeface="Pretendard"/>
              </a:rPr>
              <a:t>2,212 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283464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ACCOUNT_MAP 보강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55B8FF"/>
                </a:solidFill>
                <a:latin typeface="Pretendard"/>
              </a:rPr>
              <a:t>데이터 소스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31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KRX  →  일별 OHLCV, 시총, KOSPI200/KOSDAQ150 인덱스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DART API  →  분기/연간 재무제표 (매출, 영업이익, 순익, 자본총계)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보조  →  KODEX 골드선물(132030), 국채 ETF 시계열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1C40F"/>
                </a:solidFill>
                <a:latin typeface="Pretendard"/>
              </a:rPr>
              <a:t>데이터 정제 — 발견된 3가지 critical bug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6235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① compute_fundamentals 누계/단독 처리 오류 (Q4 만 누계, Q1-Q3 단독)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② ACCOUNT_MAP 의 '영업수익' 누락 (SK하이닉스/금융주 매출 None 처리)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③ YoY 분모 음수 처리 (적자→흑자 턴어라운드 미캡처)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55B8FF"/>
                </a:solidFill>
                <a:latin typeface="Pretendard"/>
              </a:rPr>
              <a:t>심층학습 모델 ① — ChartLSTM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Pretendard"/>
              </a:rPr>
              <a:t>Bidirectional LSTM + Temporal Attention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" cy="36576"/>
          </a:xfrm>
          <a:prstGeom prst="rect">
            <a:avLst/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Pretendard"/>
              </a:rPr>
              <a:t>5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657600" cy="594360"/>
          </a:xfrm>
          <a:prstGeom prst="roundRect">
            <a:avLst>
              <a:gd name="adj" fmla="val 5000"/>
            </a:avLst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2141C"/>
                </a:solidFill>
                <a:latin typeface="Pretendard"/>
              </a:rPr>
              <a:t>Input: (B, 60, 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retendard"/>
              </a:rPr>
              <a:t>8개 차트 피처 × 60일 시퀀스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3657600" cy="59436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9748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AECEF"/>
                </a:solidFill>
                <a:latin typeface="Pretendard"/>
              </a:rPr>
              <a:t>Bidirectional LSTM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retendard"/>
              </a:rPr>
              <a:t>hidden=64, layers=2, dropout=0.3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383280"/>
            <a:ext cx="3657600" cy="59436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AECEF"/>
                </a:solidFill>
                <a:latin typeface="Pretendard"/>
              </a:rPr>
              <a:t>Temporal Attention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947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retendard"/>
              </a:rPr>
              <a:t>시퀀스 가중치 동적 학습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60520"/>
            <a:ext cx="1737360" cy="59436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25195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AECEF"/>
                </a:solidFill>
                <a:latin typeface="Pretendard"/>
              </a:rPr>
              <a:t>Confidence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retendard"/>
              </a:rPr>
              <a:t>Sigmoid → [0,1]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4160520"/>
            <a:ext cx="1737360" cy="59436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425195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AECEF"/>
                </a:solidFill>
                <a:latin typeface="Pretendard"/>
              </a:rPr>
              <a:t>Regression 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57200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A3B2"/>
                </a:solidFill>
                <a:latin typeface="Pretendard"/>
              </a:rPr>
              <a:t>Linear → 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0292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2EC471"/>
                </a:solidFill>
                <a:latin typeface="Pretendard"/>
              </a:rPr>
              <a:t>↓  trend_confidence  ·  pred_return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18288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55B8FF"/>
                </a:solidFill>
                <a:latin typeface="Pretendard"/>
              </a:rPr>
              <a:t>모델 스펙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2860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2"/>
                </a:solidFill>
                <a:latin typeface="Pretendard"/>
              </a:rPr>
              <a:t>총 파라미터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2860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AECEF"/>
                </a:solidFill>
                <a:latin typeface="Pretendard"/>
              </a:rPr>
              <a:t>162,691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6974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2"/>
                </a:solidFill>
                <a:latin typeface="Pretendard"/>
              </a:rPr>
              <a:t>입력 차원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6974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AECEF"/>
                </a:solidFill>
                <a:latin typeface="Pretendard"/>
              </a:rPr>
              <a:t>8 (chart features) × 60 (timesteps)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1089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2"/>
                </a:solidFill>
                <a:latin typeface="Pretendard"/>
              </a:rPr>
              <a:t>LSTM hidden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1089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AECEF"/>
                </a:solidFill>
                <a:latin typeface="Pretendard"/>
              </a:rPr>
              <a:t>64 × 2 (bidirectional) = 128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35204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2"/>
                </a:solidFill>
                <a:latin typeface="Pretendard"/>
              </a:rPr>
              <a:t>LSTM layers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5204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AECEF"/>
                </a:solidFill>
                <a:latin typeface="Pretendard"/>
              </a:rPr>
              <a:t>2  +  dropout 0.3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9319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2"/>
                </a:solidFill>
                <a:latin typeface="Pretendard"/>
              </a:rPr>
              <a:t>Attention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931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AECEF"/>
                </a:solidFill>
                <a:latin typeface="Pretendard"/>
              </a:rPr>
              <a:t>Sequential(Linear, Tanh, Linear) → softmax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3434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2"/>
                </a:solidFill>
                <a:latin typeface="Pretendard"/>
              </a:rPr>
              <a:t>Output heads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3434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AECEF"/>
                </a:solidFill>
                <a:latin typeface="Pretendard"/>
              </a:rPr>
              <a:t>Confidence (Sigmoid) + Regressor (Linear)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7548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2"/>
                </a:solidFill>
                <a:latin typeface="Pretendard"/>
              </a:rPr>
              <a:t>손실 함수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754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AECEF"/>
                </a:solidFill>
                <a:latin typeface="Pretendard"/>
              </a:rPr>
              <a:t>MSE + 0.5 × BCE (ChartLSTMLoss)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516636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2"/>
                </a:solidFill>
                <a:latin typeface="Pretendard"/>
              </a:rPr>
              <a:t>Optimizer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1663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AECEF"/>
                </a:solidFill>
                <a:latin typeface="Pretendard"/>
              </a:rPr>
              <a:t>AdamW + CosineAnnealingLR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5778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2"/>
                </a:solidFill>
                <a:latin typeface="Pretendard"/>
              </a:rPr>
              <a:t>학습 결과 (val IC)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5577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AECEF"/>
                </a:solidFill>
                <a:latin typeface="Pretendard"/>
              </a:rPr>
              <a:t>0.227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0" y="598932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2"/>
                </a:solidFill>
                <a:latin typeface="Pretendard"/>
              </a:rPr>
              <a:t>학습 epoch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989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AECEF"/>
                </a:solidFill>
                <a:latin typeface="Pretendard"/>
              </a:rPr>
              <a:t>22 / 25 (Early stop)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55B8FF"/>
                </a:solidFill>
                <a:latin typeface="Pretendard"/>
              </a:rPr>
              <a:t>입력 피처 — 8개 차트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Pretendard"/>
              </a:rPr>
              <a:t>정규화 후 60일 시퀀스 입력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" cy="36576"/>
          </a:xfrm>
          <a:prstGeom prst="rect">
            <a:avLst/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Pretendard"/>
              </a:rPr>
              <a:t>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659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rsi_14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96596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14일 상대강도지수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774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과매수/과매도 (0~100)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82880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79" y="196596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bb_width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96596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볼린저 밴드 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79" y="23774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변동성 측정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2608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06324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ma_dev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06324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이동평균 괴리율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59" y="34747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단기 추세 강도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292608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79" y="306324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volatility_20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06324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20일 변동성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79" y="347472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리스크 척도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2336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416052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macd_signal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160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MACD 시그널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5720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모멘텀 전환점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402336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79" y="416052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volume_ratio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160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거래량 비율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79" y="45720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수급 강도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12064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525780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price_momentum_5d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08960" y="5257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5일 가격 모멘텀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5669279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단기 추세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59" y="512064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5257800"/>
            <a:ext cx="2286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price_momentum_20d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525780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20일 가격 모멘텀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79" y="5669279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중기 추세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55B8FF"/>
                </a:solidFill>
                <a:latin typeface="Pretendard"/>
              </a:rPr>
              <a:t>학습 방식 — Walk-forward Time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Pretendard"/>
              </a:rPr>
              <a:t>Look-ahead Bias 원천 차단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" cy="36576"/>
          </a:xfrm>
          <a:prstGeom prst="rect">
            <a:avLst/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Pretendard"/>
              </a:rPr>
              <a:t>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시간 순서 보존 (랜덤 셔플 금지)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6583679" cy="640080"/>
          </a:xfrm>
          <a:prstGeom prst="roundRect">
            <a:avLst>
              <a:gd name="adj" fmla="val 5000"/>
            </a:avLst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658367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2141C"/>
                </a:solidFill>
                <a:latin typeface="Pretendard"/>
              </a:rPr>
              <a:t>TRAIN  60%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19" y="2468880"/>
            <a:ext cx="2194560" cy="640080"/>
          </a:xfrm>
          <a:prstGeom prst="roundRect">
            <a:avLst>
              <a:gd name="adj" fmla="val 5000"/>
            </a:avLst>
          </a:prstGeom>
          <a:solidFill>
            <a:srgbClr val="F1C4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19" y="2468880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2141C"/>
                </a:solidFill>
                <a:latin typeface="Pretendard"/>
              </a:rPr>
              <a:t>VAL  20%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2468880"/>
            <a:ext cx="2194560" cy="640080"/>
          </a:xfrm>
          <a:prstGeom prst="roundRect">
            <a:avLst>
              <a:gd name="adj" fmla="val 5000"/>
            </a:avLst>
          </a:prstGeom>
          <a:solidFill>
            <a:srgbClr val="2EC4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2468880"/>
            <a:ext cx="2194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2141C"/>
                </a:solidFill>
                <a:latin typeface="Pretendard"/>
              </a:rPr>
              <a:t>TEST 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46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AA3B2"/>
                </a:solidFill>
                <a:latin typeface="Pretendard"/>
              </a:rPr>
              <a:t>2015 ────────────────────  시간(time)  ────────────────────→ 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55B8FF"/>
                </a:solidFill>
                <a:latin typeface="Pretendard"/>
              </a:rPr>
              <a:t>왜 walk-forward 인가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일반 K-fold cross validation은 시계열에서 미래 정보 누설 (look-ahead bias)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시간순으로 train/val/test 분할 → 학습 시점에 미래 데이터 절대 접근 불가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검증 결과 = '과거에 이 시점에 있었다면 어땠을까' 의 정직한 시뮬레이션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DART 공시 지연 (분기말+45/90일) 도 정확히 반영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EC471"/>
                </a:solidFill>
                <a:latin typeface="Pretendard"/>
              </a:rPr>
              <a:t>최종 학습 결과: val_IC = 0.227 (epoch 22, early stopped)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55B8FF"/>
                </a:solidFill>
                <a:latin typeface="Pretendard"/>
              </a:rPr>
              <a:t>심층학습 모델 ② — Rule-based Screener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Pretendard"/>
              </a:rPr>
              <a:t>4-factor + Trend + Macro Defense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" cy="36576"/>
          </a:xfrm>
          <a:prstGeom prst="rect">
            <a:avLst/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Pretendard"/>
              </a:rPr>
              <a:t>8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 w="12700">
            <a:solidFill>
              <a:srgbClr val="55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1. 하드 필터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965960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ROE≥20% · 0&lt;PER≤60 · OPM≥10% · 시총≥1조 · 매출/순익/영업이익 YoY &gt; 0 · PQ 0.3~2.0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0604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 w="12700">
            <a:solidFill>
              <a:srgbClr val="55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2. 추세 필터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743200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종가 &gt; 60일선 · Ichimoku Cloud (9,26,52) · ADX ≥ 25 + DI 정배열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38328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 w="12700">
            <a:solidFill>
              <a:srgbClr val="55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2043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3. 점수 계산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520439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4팩터 백분위 가중 (PER↓ + ROE↑ + 매출성장↑ + 순익성장↑) + 시총 가산 + 영익 가속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 w="12700">
            <a:solidFill>
              <a:srgbClr val="55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97679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4. 포트폴리오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297679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Top10 · KOSPI 5 + KOSDAQ 5 · 단일 종목 ≤ 25% 캡 · 잔여 채권 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 w="12700">
            <a:solidFill>
              <a:srgbClr val="55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07492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5. 리밸 &amp; 방어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074920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2개월 주기 · 매월 9일 · 종목 0개 시 채권 폴백 · Ichimoku+ADX 약세 시 골드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715000"/>
            <a:ext cx="11064240" cy="6858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 w="12700">
            <a:solidFill>
              <a:srgbClr val="55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8521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6. 자체 보강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852160"/>
            <a:ext cx="8503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DART TTM PER (KRX 지연 우회) · YoY abs 분모 · 2,212행 매출 회수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55B8FF"/>
                </a:solidFill>
                <a:latin typeface="Pretendard"/>
              </a:rPr>
              <a:t>앙상블 결합 — AI +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Pretendard"/>
              </a:rPr>
              <a:t>심층학습과 규칙의 가중 평균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" cy="36576"/>
          </a:xfrm>
          <a:prstGeom prst="rect">
            <a:avLst/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Pretendard"/>
              </a:rPr>
              <a:t>9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11064240" cy="128016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642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2EC471"/>
                </a:solidFill>
                <a:latin typeface="Pretendard"/>
              </a:rPr>
              <a:t>ensemble_score  =  ai_weight × ai_score  +  (1 - ai_weight) × rule_score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3657600" cy="301752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 w="12700">
            <a:solidFill>
              <a:srgbClr val="55B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ai_score (0~100)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ChartLSTM 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trend_confidence ↑↓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→ 0~100 스케일링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• 차트 패턴 기반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5216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• 단기 모멘텀 강조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383280"/>
            <a:ext cx="3657600" cy="301752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 w="12700">
            <a:solidFill>
              <a:srgbClr val="F1C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5661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1C40F"/>
                </a:solidFill>
                <a:latin typeface="Pretendard"/>
              </a:rPr>
              <a:t>rule_score (0~100)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02336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4팩터 가중 평균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38912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백분위 정렬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75488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→ 0~100 스케일링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12064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48640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• 펀더멘털 중심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585216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• 시총/가속도 가산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383280"/>
            <a:ext cx="3383280" cy="301752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 w="12700">
            <a:solidFill>
              <a:srgbClr val="2EC4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5661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C471"/>
                </a:solidFill>
                <a:latin typeface="Pretendard"/>
              </a:rPr>
              <a:t>ai_weight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0233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기본값: 0.3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3891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(AI 30% + Rule 70%)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7548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512064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사이드바 슬라이더로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48640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0~1 조정 가능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58521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621792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본 실험 production: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65836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Rule 단독 (ai_w=0)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55B8FF"/>
                </a:solidFill>
                <a:latin typeface="Pretendard"/>
              </a:rPr>
              <a:t>Risk Overlay — 비중 캡 + 채권 폴백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Pretendard"/>
              </a:rPr>
              <a:t>사후 손절 없는 사전 분산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" cy="36576"/>
          </a:xfrm>
          <a:prstGeom prst="rect">
            <a:avLst/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Pretendard"/>
              </a:rPr>
              <a:t>10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55B8FF"/>
                </a:solidFill>
                <a:latin typeface="Pretendard"/>
              </a:rPr>
              <a:t>메커니즘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① 분기 시작 시 rank-가중 비중 계산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    (Top1 = 18~20%, ..., Top10 = 1~2%)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② 단일 종목 25% 캡 적용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    (초과분 → 채권 3% 일복리)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③ 종목 0개 시 100% 채권 폴백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④ Ichimoku+ADX 약세 신호 → KODEX 골드(132030)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⑤ 매월 9일 리밸 (2개월 주기)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288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55B8FF"/>
                </a:solidFill>
                <a:latin typeface="Pretendard"/>
              </a:rPr>
              <a:t>실험 결과 ✓ 채택 / ✗ 폐기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C471"/>
                </a:solidFill>
                <a:latin typeface="Pretendard"/>
              </a:rPr>
              <a:t>✓ 비중 캡 25%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2860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Sharpe 1.04 → 1.17 (사전 분산)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C471"/>
                </a:solidFill>
                <a:latin typeface="Pretendard"/>
              </a:rPr>
              <a:t>✓ 채권 폴백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834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현금 구간 +9% 누적 (2015-17)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38328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2EC471"/>
                </a:solidFill>
                <a:latin typeface="Pretendard"/>
              </a:rPr>
              <a:t>✓ 골드 헤지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3832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Ichimoku 약세 시 cash → 132030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93192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Pretendard"/>
              </a:rPr>
              <a:t>✗ Trailing stop -15%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9319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TR 1075% → 126% (catastrophic)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805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Pretendard"/>
              </a:rPr>
              <a:t>✗ Static cash 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448056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MDD ↓ but Sharpe ↓ (drag)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02920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E74C3C"/>
                </a:solidFill>
                <a:latin typeface="Pretendard"/>
              </a:rPr>
              <a:t>✗ Volatility targeting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50292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복잡도 vs 효과 미미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55B8FF"/>
                </a:solidFill>
                <a:latin typeface="Pretendard"/>
              </a:rPr>
              <a:t>하이퍼파라미터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Pretendard"/>
              </a:rPr>
              <a:t>Grid Search — Period ×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" cy="36576"/>
          </a:xfrm>
          <a:prstGeom prst="rect">
            <a:avLst/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Pretendard"/>
              </a:rPr>
              <a:t>11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리밸 주기 (period_months)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3B2"/>
                </a:solidFill>
                <a:latin typeface="Pretendard"/>
              </a:rPr>
              <a:t>주기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39" y="219456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3B2"/>
                </a:solidFill>
                <a:latin typeface="Pretendard"/>
              </a:rPr>
              <a:t>TR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19456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3B2"/>
                </a:solidFill>
                <a:latin typeface="Pretendard"/>
              </a:rPr>
              <a:t>Sharpe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19456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3B2"/>
                </a:solidFill>
                <a:latin typeface="Pretendard"/>
              </a:rPr>
              <a:t>MDD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603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39" y="25603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815.7%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603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1.28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59" y="25603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-19.6%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26079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C471"/>
                </a:solidFill>
                <a:latin typeface="Pretendard"/>
              </a:rPr>
              <a:t>2m 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39" y="2926079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C471"/>
                </a:solidFill>
                <a:latin typeface="Pretendard"/>
              </a:rPr>
              <a:t>967.4%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926079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C471"/>
                </a:solidFill>
                <a:latin typeface="Pretendard"/>
              </a:rPr>
              <a:t>1.34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2926079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C471"/>
                </a:solidFill>
                <a:latin typeface="Pretendard"/>
              </a:rPr>
              <a:t>-16.0%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91839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3m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39" y="3291839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651.8%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291839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1.16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291839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-17.8%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6576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4m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39" y="36576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671.5%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6576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1.11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36576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-24.6%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2336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5m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39" y="402336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312.3%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02336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0.82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402336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-22.4%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3891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6m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39" y="43891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738.9%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43891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1.17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59" y="43891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-21.4%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783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리밸 시작일 (rebalance_day)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19456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3B2"/>
                </a:solidFill>
                <a:latin typeface="Pretendard"/>
              </a:rPr>
              <a:t>주기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219456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3B2"/>
                </a:solidFill>
                <a:latin typeface="Pretendard"/>
              </a:rPr>
              <a:t>TR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59" y="219456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3B2"/>
                </a:solidFill>
                <a:latin typeface="Pretendard"/>
              </a:rPr>
              <a:t>Sharpe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19" y="219456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AA3B2"/>
                </a:solidFill>
                <a:latin typeface="Pretendard"/>
              </a:rPr>
              <a:t>MDD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25603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day=8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25603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1117%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59" y="25603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1.32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19" y="256032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-18.2%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2926079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C471"/>
                </a:solidFill>
                <a:latin typeface="Pretendard"/>
              </a:rPr>
              <a:t>day=9 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2926079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C471"/>
                </a:solidFill>
                <a:latin typeface="Pretendard"/>
              </a:rPr>
              <a:t>1427%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59" y="2926079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C471"/>
                </a:solidFill>
                <a:latin typeface="Pretendard"/>
              </a:rPr>
              <a:t>1.41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2719" y="2926079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2EC471"/>
                </a:solidFill>
                <a:latin typeface="Pretendard"/>
              </a:rPr>
              <a:t>-20.1%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92240" y="3291839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day=10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3291839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1384%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59" y="3291839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1.39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32719" y="3291839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-20.7%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36576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day=11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36576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1257%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59" y="36576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1.35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2719" y="36576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-17.6%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402336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day=12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402336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1279%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59" y="402336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1.36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32719" y="402336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Pretendard"/>
              </a:rPr>
              <a:t>-18.7%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EC471"/>
                </a:solidFill>
                <a:latin typeface="Pretendard"/>
              </a:rPr>
              <a:t>최적 조합 ★ 2m × day=9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532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AECEF"/>
                </a:solidFill>
                <a:latin typeface="Pretendard"/>
              </a:rPr>
              <a:t>메커니즘: 5월 9일·11월 9일 = DART 분기보고서 공시 시즌 직전 (분기말+45일).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AECEF"/>
                </a:solidFill>
                <a:latin typeface="Pretendard"/>
              </a:rPr>
              <a:t>신실적 반영 직후 매수 시점 → 최대 알파 포착 + 신호 노이즈 최소화.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55B8FF"/>
                </a:solidFill>
                <a:latin typeface="Pretendard"/>
              </a:rPr>
              <a:t>검증 ① — 라이브 백테스트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Pretendard"/>
              </a:rPr>
              <a:t>2015-01-01 ~ 2026-05-15  (11.4년)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" cy="36576"/>
          </a:xfrm>
          <a:prstGeom prst="rect">
            <a:avLst/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Pretendard"/>
              </a:rPr>
              <a:t>12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Total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C471"/>
                </a:solidFill>
                <a:latin typeface="Pretendard"/>
              </a:rPr>
              <a:t>1,427%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11.4년 누적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82880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2860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C471"/>
                </a:solidFill>
                <a:latin typeface="Pretendard"/>
              </a:rPr>
              <a:t>27.2%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9260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연복리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2880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96596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Sharpe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8600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C471"/>
                </a:solidFill>
                <a:latin typeface="Pretendard"/>
              </a:rPr>
              <a:t>1.41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2608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위험조정수익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828800"/>
            <a:ext cx="2514600" cy="14630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19659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Daily MDD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2860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1C40F"/>
                </a:solidFill>
                <a:latin typeface="Pretendard"/>
              </a:rPr>
              <a:t>-20.1%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92608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일별 실측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20440"/>
            <a:ext cx="2697480" cy="118872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6576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Win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977639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55B8FF"/>
                </a:solidFill>
                <a:latin typeface="Pretendard"/>
              </a:rPr>
              <a:t>76.8%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3434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분기별 양수 비율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3520440"/>
            <a:ext cx="2697480" cy="118872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36576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α (KOSPI200)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3977639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C471"/>
                </a:solidFill>
                <a:latin typeface="Pretendard"/>
              </a:rPr>
              <a:t>+10.3%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3434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연복리 알파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520440"/>
            <a:ext cx="2697480" cy="118872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6576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총 거래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977639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55B8FF"/>
                </a:solidFill>
                <a:latin typeface="Pretendard"/>
              </a:rPr>
              <a:t>247회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343400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평균 22회/년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20" y="3520440"/>
            <a:ext cx="2514600" cy="118872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72600" y="365760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거래비용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3977639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55B8FF"/>
                </a:solidFill>
                <a:latin typeface="Pretendard"/>
              </a:rPr>
              <a:t>0.25%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434340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이미 모두 차감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vs KOSPI200 비교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• 시스템: +1,427% (11.4년) ··········· KOSPI200: +89% (동기간)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• α (연복리): +10.3%/yr — 동일 자금, 동일 기간 비교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• Sharpe: 1.41 (시스템) vs 0.4 (KOSPI200) — 3.5배 위험조정수익률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55B8FF"/>
                </a:solidFill>
                <a:latin typeface="Pretendard"/>
              </a:rPr>
              <a:t>검증 ② — 블랙스완 스트레스 테스트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Pretendard"/>
              </a:rPr>
              <a:t>3대 위기 구간 정밀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" cy="36576"/>
          </a:xfrm>
          <a:prstGeom prst="rect">
            <a:avLst/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Pretendard"/>
              </a:rPr>
              <a:t>13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2468880" cy="502920"/>
          </a:xfrm>
          <a:prstGeom prst="roundRect">
            <a:avLst>
              <a:gd name="adj" fmla="val 5000"/>
            </a:avLst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2468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2141C"/>
                </a:solidFill>
                <a:latin typeface="Pretendard"/>
              </a:rPr>
              <a:t>이벤트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82880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82880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2141C"/>
                </a:solidFill>
                <a:latin typeface="Pretendard"/>
              </a:rPr>
              <a:t>기간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828800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82880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2141C"/>
                </a:solidFill>
                <a:latin typeface="Pretendard"/>
              </a:rPr>
              <a:t>시스템 MDD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79" y="1828800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79" y="182880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2141C"/>
                </a:solidFill>
                <a:latin typeface="Pretendard"/>
              </a:rPr>
              <a:t>KOSPI MDD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78240" y="1828800"/>
            <a:ext cx="1371600" cy="502920"/>
          </a:xfrm>
          <a:prstGeom prst="roundRect">
            <a:avLst>
              <a:gd name="adj" fmla="val 5000"/>
            </a:avLst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828800"/>
            <a:ext cx="1371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2141C"/>
                </a:solidFill>
                <a:latin typeface="Pretendard"/>
              </a:rPr>
              <a:t>방어율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49840" y="1828800"/>
            <a:ext cx="1463040" cy="502920"/>
          </a:xfrm>
          <a:prstGeom prst="roundRect">
            <a:avLst>
              <a:gd name="adj" fmla="val 5000"/>
            </a:avLst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0" y="182880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2141C"/>
                </a:solidFill>
                <a:latin typeface="Pretendard"/>
              </a:rPr>
              <a:t>알파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377440"/>
            <a:ext cx="246888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377440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AECEF"/>
                </a:solidFill>
                <a:latin typeface="Pretendard"/>
              </a:rPr>
              <a:t>2018 미중 무역전쟁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237744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17520" y="237744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AECEF"/>
                </a:solidFill>
                <a:latin typeface="Pretendard"/>
              </a:rPr>
              <a:t>2018-10 ~ 12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2377440"/>
            <a:ext cx="173736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237744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AECEF"/>
                </a:solidFill>
                <a:latin typeface="Pretendard"/>
              </a:rPr>
              <a:t>-1.76%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79" y="2377440"/>
            <a:ext cx="173736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79" y="237744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AECEF"/>
                </a:solidFill>
                <a:latin typeface="Pretendard"/>
              </a:rPr>
              <a:t>-13.12%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2377440"/>
            <a:ext cx="137160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237744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AECEF"/>
                </a:solidFill>
                <a:latin typeface="Pretendard"/>
              </a:rPr>
              <a:t>86.6%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49840" y="2377440"/>
            <a:ext cx="146304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2377440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EC471"/>
                </a:solidFill>
                <a:latin typeface="Pretendard"/>
              </a:rPr>
              <a:t>+14.7%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2926080"/>
            <a:ext cx="2468880" cy="548640"/>
          </a:xfrm>
          <a:prstGeom prst="roundRect">
            <a:avLst>
              <a:gd name="adj" fmla="val 5000"/>
            </a:avLst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926080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AECEF"/>
                </a:solidFill>
                <a:latin typeface="Pretendard"/>
              </a:rPr>
              <a:t>2020 COVID-19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17520" y="292608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292608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AECEF"/>
                </a:solidFill>
                <a:latin typeface="Pretendard"/>
              </a:rPr>
              <a:t>2020-02 ~ 04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03520" y="2926080"/>
            <a:ext cx="1737360" cy="548640"/>
          </a:xfrm>
          <a:prstGeom prst="roundRect">
            <a:avLst>
              <a:gd name="adj" fmla="val 5000"/>
            </a:avLst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0" y="292608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AECEF"/>
                </a:solidFill>
                <a:latin typeface="Pretendard"/>
              </a:rPr>
              <a:t>-3.93%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79" y="2926080"/>
            <a:ext cx="1737360" cy="548640"/>
          </a:xfrm>
          <a:prstGeom prst="roundRect">
            <a:avLst>
              <a:gd name="adj" fmla="val 5000"/>
            </a:avLst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79" y="292608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AECEF"/>
                </a:solidFill>
                <a:latin typeface="Pretendard"/>
              </a:rPr>
              <a:t>-33.92%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778240" y="2926080"/>
            <a:ext cx="1371600" cy="548640"/>
          </a:xfrm>
          <a:prstGeom prst="roundRect">
            <a:avLst>
              <a:gd name="adj" fmla="val 5000"/>
            </a:avLst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292608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AECEF"/>
                </a:solidFill>
                <a:latin typeface="Pretendard"/>
              </a:rPr>
              <a:t>88.4%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49840" y="2926080"/>
            <a:ext cx="1463040" cy="548640"/>
          </a:xfrm>
          <a:prstGeom prst="roundRect">
            <a:avLst>
              <a:gd name="adj" fmla="val 5000"/>
            </a:avLst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49840" y="2926080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EC471"/>
                </a:solidFill>
                <a:latin typeface="Pretendard"/>
              </a:rPr>
              <a:t>+24.0%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3474720"/>
            <a:ext cx="246888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3474720"/>
            <a:ext cx="2468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AECEF"/>
                </a:solidFill>
                <a:latin typeface="Pretendard"/>
              </a:rPr>
              <a:t>2022 인플레이션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17520" y="3474720"/>
            <a:ext cx="228600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17520" y="3474720"/>
            <a:ext cx="2286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AECEF"/>
                </a:solidFill>
                <a:latin typeface="Pretendard"/>
              </a:rPr>
              <a:t>2022-01 ~ 10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303520" y="3474720"/>
            <a:ext cx="173736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0" y="347472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AECEF"/>
                </a:solidFill>
                <a:latin typeface="Pretendard"/>
              </a:rPr>
              <a:t>-18.01%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40879" y="3474720"/>
            <a:ext cx="173736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40879" y="347472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AECEF"/>
                </a:solidFill>
                <a:latin typeface="Pretendard"/>
              </a:rPr>
              <a:t>-27.96%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78240" y="3474720"/>
            <a:ext cx="137160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0" y="347472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AECEF"/>
                </a:solidFill>
                <a:latin typeface="Pretendard"/>
              </a:rPr>
              <a:t>35.6%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49840" y="3474720"/>
            <a:ext cx="146304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49840" y="3474720"/>
            <a:ext cx="14630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EC471"/>
                </a:solidFill>
                <a:latin typeface="Pretendard"/>
              </a:rPr>
              <a:t>+14.1%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3891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55B8FF"/>
                </a:solidFill>
                <a:latin typeface="Pretendard"/>
              </a:rPr>
              <a:t>핵심 발견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✓ 3개 위기 모두 KOSPI 대비 +14~24%p 알파 양수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257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✓ 2020 COVID: KOSPI -33.9% 폭락 와중에도 시스템 +6.1% 수익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✓ 채권 폴백 + 골드 헤지 + 비중 캡 + Ichimoku 약세 신호의 시너지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AECEF"/>
                </a:solidFill>
                <a:latin typeface="Pretendard"/>
              </a:rPr>
              <a:t>✓ 단순 fitting 아닌 구조적 알파 (3개 위기 모두 일관)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55B8FF"/>
                </a:solidFill>
                <a:latin typeface="Pretendard"/>
              </a:rPr>
              <a:t>검증 ③ — 몬테카를로 시뮬레이션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Pretendard"/>
              </a:rPr>
              <a:t>10,000회 부트스트랩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" cy="36576"/>
          </a:xfrm>
          <a:prstGeom prst="rect">
            <a:avLst/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Pretendard"/>
              </a:rPr>
              <a:t>14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AA3B2"/>
                </a:solidFill>
                <a:latin typeface="Pretendard"/>
              </a:rPr>
              <a:t>방법: 일별 수익률을 5일 블록으로 무작위 재추출 → 10,000개 가상 타임라인 생성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3017520" cy="502920"/>
          </a:xfrm>
          <a:prstGeom prst="roundRect">
            <a:avLst>
              <a:gd name="adj" fmla="val 5000"/>
            </a:avLst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3017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2141C"/>
                </a:solidFill>
                <a:latin typeface="Pretendard"/>
              </a:rPr>
              <a:t>시나리오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377440"/>
            <a:ext cx="1737360" cy="502920"/>
          </a:xfrm>
          <a:prstGeom prst="roundRect">
            <a:avLst>
              <a:gd name="adj" fmla="val 5000"/>
            </a:avLst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37744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2141C"/>
                </a:solidFill>
                <a:latin typeface="Pretendard"/>
              </a:rPr>
              <a:t>파산확률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19" y="2377440"/>
            <a:ext cx="1828800" cy="502920"/>
          </a:xfrm>
          <a:prstGeom prst="roundRect">
            <a:avLst>
              <a:gd name="adj" fmla="val 5000"/>
            </a:avLst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19" y="237744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2141C"/>
                </a:solidFill>
                <a:latin typeface="Pretendard"/>
              </a:rPr>
              <a:t>CAGR 중앙값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19" y="2377440"/>
            <a:ext cx="2011680" cy="502920"/>
          </a:xfrm>
          <a:prstGeom prst="roundRect">
            <a:avLst>
              <a:gd name="adj" fmla="val 5000"/>
            </a:avLst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19" y="2377440"/>
            <a:ext cx="2011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2141C"/>
                </a:solidFill>
                <a:latin typeface="Pretendard"/>
              </a:rPr>
              <a:t>CAGR 1% 최악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2377440"/>
            <a:ext cx="2103120" cy="502920"/>
          </a:xfrm>
          <a:prstGeom prst="roundRect">
            <a:avLst>
              <a:gd name="adj" fmla="val 5000"/>
            </a:avLst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2377440"/>
            <a:ext cx="21031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2141C"/>
                </a:solidFill>
                <a:latin typeface="Pretendard"/>
              </a:rPr>
              <a:t>MDD 1% 최악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926080"/>
            <a:ext cx="301752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26080"/>
            <a:ext cx="3017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EC471"/>
                </a:solidFill>
                <a:latin typeface="Pretendard"/>
              </a:rPr>
              <a:t>A) 표준 (현실 분포)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2926080"/>
            <a:ext cx="173736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292608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EC471"/>
                </a:solidFill>
                <a:latin typeface="Pretendard"/>
              </a:rPr>
              <a:t>0.00%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19" y="292608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19" y="292608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EC471"/>
                </a:solidFill>
                <a:latin typeface="Pretendard"/>
              </a:rPr>
              <a:t>+26.5%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19" y="2926080"/>
            <a:ext cx="201168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19" y="292608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EC471"/>
                </a:solidFill>
                <a:latin typeface="Pretendard"/>
              </a:rPr>
              <a:t>+11.1%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292608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92608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EC471"/>
                </a:solidFill>
                <a:latin typeface="Pretendard"/>
              </a:rPr>
              <a:t>-35.4%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474720"/>
            <a:ext cx="3017520" cy="548640"/>
          </a:xfrm>
          <a:prstGeom prst="roundRect">
            <a:avLst>
              <a:gd name="adj" fmla="val 5000"/>
            </a:avLst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474720"/>
            <a:ext cx="3017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74C3C"/>
                </a:solidFill>
                <a:latin typeface="Pretendard"/>
              </a:rPr>
              <a:t>B) 1.5x 스트레스 (참고)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3474720"/>
            <a:ext cx="1737360" cy="548640"/>
          </a:xfrm>
          <a:prstGeom prst="roundRect">
            <a:avLst>
              <a:gd name="adj" fmla="val 5000"/>
            </a:avLst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347472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74C3C"/>
                </a:solidFill>
                <a:latin typeface="Pretendard"/>
              </a:rPr>
              <a:t>89.6%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19" y="347472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19" y="347472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74C3C"/>
                </a:solidFill>
                <a:latin typeface="Pretendard"/>
              </a:rPr>
              <a:t>-7.2%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19" y="3474720"/>
            <a:ext cx="2011680" cy="548640"/>
          </a:xfrm>
          <a:prstGeom prst="roundRect">
            <a:avLst>
              <a:gd name="adj" fmla="val 5000"/>
            </a:avLst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19" y="347472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74C3C"/>
                </a:solidFill>
                <a:latin typeface="Pretendard"/>
              </a:rPr>
              <a:t>-19.1%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47472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47472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74C3C"/>
                </a:solidFill>
                <a:latin typeface="Pretendard"/>
              </a:rPr>
              <a:t>-93.0%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023360"/>
            <a:ext cx="301752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023360"/>
            <a:ext cx="3017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74C3C"/>
                </a:solidFill>
                <a:latin typeface="Pretendard"/>
              </a:rPr>
              <a:t>C) 2.0x 극단 (참고)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566160" y="4023360"/>
            <a:ext cx="173736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66160" y="402336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74C3C"/>
                </a:solidFill>
                <a:latin typeface="Pretendard"/>
              </a:rPr>
              <a:t>100%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03519" y="4023360"/>
            <a:ext cx="182880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19" y="402336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74C3C"/>
                </a:solidFill>
                <a:latin typeface="Pretendard"/>
              </a:rPr>
              <a:t>-32.1%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132319" y="4023360"/>
            <a:ext cx="201168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19" y="4023360"/>
            <a:ext cx="2011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74C3C"/>
                </a:solidFill>
                <a:latin typeface="Pretendard"/>
              </a:rPr>
              <a:t>-41.2%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0" y="4023360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0" y="4023360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E74C3C"/>
                </a:solidFill>
                <a:latin typeface="Pretendard"/>
              </a:rPr>
              <a:t>-99.9%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C471"/>
                </a:solidFill>
                <a:latin typeface="Pretendard"/>
              </a:rPr>
              <a:t>표준 시나리오 (실제 한국 시장 분포)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983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✓ 10,000회 시뮬 중 단 한 번도 원금 손실 없음 (파산확률 0%)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✓ 가장 운 없는 1% 시나리오에서도 CAGR +11.1% (양수)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1C40F"/>
                </a:solidFill>
                <a:latin typeface="Pretendard"/>
              </a:rPr>
              <a:t>스트레스 시나리오의 한계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AA3B2"/>
                </a:solidFill>
                <a:latin typeface="Pretendard"/>
              </a:rPr>
              <a:t>• 1.5x/2.0x = 모든 음수 일률 증폭 → 비현실적 (long-only 공통 한계)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55B8FF"/>
                </a:solidFill>
                <a:latin typeface="Pretendard"/>
              </a:rPr>
              <a:t>Engineering Lessons — 발견된 3대 버그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Pretendard"/>
              </a:rPr>
              <a:t>데이터 파이프라인의 함정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" cy="36576"/>
          </a:xfrm>
          <a:prstGeom prst="rect">
            <a:avLst/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Pretendard"/>
              </a:rPr>
              <a:t>15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11064240" cy="150876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 w="12700">
            <a:solidFill>
              <a:srgbClr val="E74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① compute_fundamentals 누계/단독 오류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4C3C"/>
                </a:solidFill>
                <a:latin typeface="Pretendard"/>
              </a:rPr>
              <a:t>문제 · Q1/Q2/Q3 는 단독 분기값인데 누계로 가정하고 빼버림 → 매출/순익 음수 처리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1C40F"/>
                </a:solidFill>
                <a:latin typeface="Pretendard"/>
              </a:rPr>
              <a:t>수정 · 샘플 검증 (Samsung/SK하이닉스/현대차) → Q4만 누계로 수정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39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EC471"/>
                </a:solidFill>
                <a:latin typeface="Pretendard"/>
              </a:rPr>
              <a:t>효과 · 기존 '버그가 우연히 노이즈 차단 필터 역할' 했음을 발견 (정직한 알파 측정 가능)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37560"/>
            <a:ext cx="11064240" cy="150876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 w="12700">
            <a:solidFill>
              <a:srgbClr val="F1C4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② ACCOUNT_MAP 의 '영업수익' 누락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9476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4C3C"/>
                </a:solidFill>
                <a:latin typeface="Pretendard"/>
              </a:rPr>
              <a:t>문제 · SK하이닉스/금융주는 매출을 '영업수익' 으로 보고 → 우리 DB 에 NULL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1C40F"/>
                </a:solidFill>
                <a:latin typeface="Pretendard"/>
              </a:rPr>
              <a:t>수정 · ACCOUNT_MAP 에 '영업수익' → revenue 추가 + 로마자 접두 strip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EC471"/>
                </a:solidFill>
                <a:latin typeface="Pretendard"/>
              </a:rPr>
              <a:t>효과 · 2,212 행 매출 회수 → SK하이닉스 +174% 알파주 진입 가능 (TR 587% → 1,427%)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937760"/>
            <a:ext cx="11064240" cy="150876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 w="12700">
            <a:solidFill>
              <a:srgbClr val="2EC4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5B8FF"/>
                </a:solidFill>
                <a:latin typeface="Pretendard"/>
              </a:rPr>
              <a:t>③ YoY 분모 음수 처리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4C3C"/>
                </a:solidFill>
                <a:latin typeface="Pretendard"/>
              </a:rPr>
              <a:t>문제 · _growth() 가 prev&lt;=0 일 때 None 반환 → 적자→흑자 턴어라운드 미캡처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F1C40F"/>
                </a:solidFill>
                <a:latin typeface="Pretendard"/>
              </a:rPr>
              <a:t>수정 · (curr - prev) / abs(prev) 로 수정 (prev=0 만 None)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10789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EC471"/>
                </a:solidFill>
                <a:latin typeface="Pretendard"/>
              </a:rPr>
              <a:t>효과 · SK하이닉스 OP YoY 2024Q1 +4884% 같은 폭발 신호 정상 캡처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55B8FF"/>
                </a:solidFill>
                <a:latin typeface="Pretendard"/>
              </a:rPr>
              <a:t>Production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Pretendard"/>
              </a:rPr>
              <a:t>Streamlit Web UI · 7 Tabs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" cy="36576"/>
          </a:xfrm>
          <a:prstGeom prst="rect">
            <a:avLst/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Pretendard"/>
              </a:rPr>
              <a:t>16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5B8FF"/>
                </a:solidFill>
                <a:latin typeface="Pretendard"/>
              </a:rPr>
              <a:t>📌 추천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96596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AI/규칙 기반 종목 추천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사이드바 ai_weight 조정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182880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96596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5B8FF"/>
                </a:solidFill>
                <a:latin typeface="Pretendard"/>
              </a:rPr>
              <a:t>🔍 종목 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196596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개별 종목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59" y="23774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재무/차트 시각화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8036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01752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5B8FF"/>
                </a:solidFill>
                <a:latin typeface="Pretendard"/>
              </a:rPr>
              <a:t>💼 포트폴리오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01752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현재 보유 + 60일선 진단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매수일/다음 리밸 자동 계산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288036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301752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5B8FF"/>
                </a:solidFill>
                <a:latin typeface="Pretendard"/>
              </a:rPr>
              <a:t>📊 성과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301752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실시간 백테스트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342900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수익률/MDD/Sharpe 차트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3192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6908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5B8FF"/>
                </a:solidFill>
                <a:latin typeface="Pretendard"/>
              </a:rPr>
              <a:t>🔬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406908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블랙스완 + Monte Carlo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80559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10,000회 부트스트랩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59" y="3931920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59" y="406908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5B8FF"/>
                </a:solidFill>
                <a:latin typeface="Pretendard"/>
              </a:rPr>
              <a:t>📰 뉴스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406908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Google News RSS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59" y="4480559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키워드 필터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983479"/>
            <a:ext cx="5486400" cy="91440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120640"/>
            <a:ext cx="1645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55B8FF"/>
                </a:solidFill>
                <a:latin typeface="Pretendard"/>
              </a:rPr>
              <a:t>📦 데이터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512064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시스템 룰/모델 메타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532119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AA3B2"/>
                </a:solidFill>
                <a:latin typeface="Pretendard"/>
              </a:rPr>
              <a:t>ChartLSTM 상세 + 6단계 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55B8FF"/>
                </a:solidFill>
                <a:latin typeface="Pretendard"/>
              </a:rPr>
              <a:t>결론 &amp; 향후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3B2"/>
                </a:solidFill>
                <a:latin typeface="Pretendard"/>
              </a:rPr>
              <a:t>Summary · Limitations ·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548640" cy="36576"/>
          </a:xfrm>
          <a:prstGeom prst="rect">
            <a:avLst/>
          </a:prstGeom>
          <a:solidFill>
            <a:srgbClr val="55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AA3B2"/>
                </a:solidFill>
                <a:latin typeface="Pretendard"/>
              </a:rPr>
              <a:t>17 /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EC471"/>
                </a:solidFill>
                <a:latin typeface="Pretendard"/>
              </a:rPr>
              <a:t>✓ 성취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심층학습 (ChartLSTM) + 규칙 기반 앙상블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Walk-forward 학습 (look-ahead 차단)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라이브 CAGR 27.2% / Sharpe 1.41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3대 블랙스완 모두 KOSPI 능가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Monte Carlo 표준 파산확률 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43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Production UI 배포 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Critical bug 3건 발견·수정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1C40F"/>
                </a:solidFill>
                <a:latin typeface="Pretendard"/>
              </a:rPr>
              <a:t>→ 향후 개선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860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Transformer 아키텍처 비교 (LSTM vs)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강화학습 (PPO) 으로 동적 비중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089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뉴스 NLP 감성 점수 통합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204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US 시장 (S&amp;P500) 확장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319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옵션 헤지 (long put) 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434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실시간 1분봉 데이터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54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EAECEF"/>
                </a:solidFill>
                <a:latin typeface="Pretendard"/>
              </a:rPr>
              <a:t>• Multi-asset (채권/원자재) 자동 배분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486400"/>
            <a:ext cx="11064240" cy="1097280"/>
          </a:xfrm>
          <a:prstGeom prst="roundRect">
            <a:avLst>
              <a:gd name="adj" fmla="val 5000"/>
            </a:avLst>
          </a:prstGeom>
          <a:solidFill>
            <a:srgbClr val="1C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55B8FF"/>
                </a:solidFill>
                <a:latin typeface="Pretendard"/>
              </a:rPr>
              <a:t>딥러닝은 도구일 뿐 — 검증과 리스크 관리가 본질.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AA3B2"/>
                </a:solidFill>
                <a:latin typeface="Pretendard"/>
              </a:rPr>
              <a:t>Walk-forward + Monte Carlo + Black Swan = 통계학적으로 정직한 모델만 살아남는다.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